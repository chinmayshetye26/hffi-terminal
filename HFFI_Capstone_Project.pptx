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7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Equity 55%</c:v>
                </c:pt>
                <c:pt idx="1">
                  <c:v>Bond 30%</c:v>
                </c:pt>
                <c:pt idx="2">
                  <c:v>Cash 15%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Arial"/>
              </a:rPr>
              <a:t>Households by Risk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92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Stable</c:v>
                  </c:pt>
                  <c:pt idx="1">
                    <c:v>Moderate Fragility</c:v>
                  </c:pt>
                  <c:pt idx="2">
                    <c:v>High Fragility</c:v>
                  </c:pt>
                  <c:pt idx="3">
                    <c:v>Severe Fragility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61839</c:v>
                </c:pt>
                <c:pt idx="1">
                  <c:v>99667</c:v>
                </c:pt>
                <c:pt idx="2">
                  <c:v>27801</c:v>
                </c:pt>
                <c:pt idx="3">
                  <c:v>4958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HFFI Distribution (190K households)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0-10</c:v>
                  </c:pt>
                  <c:pt idx="1">
                    <c:v>10-20</c:v>
                  </c:pt>
                  <c:pt idx="2">
                    <c:v>20-30</c:v>
                  </c:pt>
                  <c:pt idx="3">
                    <c:v>30-40</c:v>
                  </c:pt>
                  <c:pt idx="4">
                    <c:v>40-50</c:v>
                  </c:pt>
                  <c:pt idx="5">
                    <c:v>50-60</c:v>
                  </c:pt>
                  <c:pt idx="6">
                    <c:v>60-70</c:v>
                  </c:pt>
                  <c:pt idx="7">
                    <c:v>70-80</c:v>
                  </c:pt>
                  <c:pt idx="8">
                    <c:v>80-90</c:v>
                  </c:pt>
                  <c:pt idx="9">
                    <c:v>90-100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4200</c:v>
                </c:pt>
                <c:pt idx="1">
                  <c:v>12800</c:v>
                </c:pt>
                <c:pt idx="2">
                  <c:v>23600</c:v>
                </c:pt>
                <c:pt idx="3">
                  <c:v>35400</c:v>
                </c:pt>
                <c:pt idx="4">
                  <c:v>38900</c:v>
                </c:pt>
                <c:pt idx="5">
                  <c:v>31200</c:v>
                </c:pt>
                <c:pt idx="6">
                  <c:v>22500</c:v>
                </c:pt>
                <c:pt idx="7">
                  <c:v>12800</c:v>
                </c:pt>
                <c:pt idx="8">
                  <c:v>5200</c:v>
                </c:pt>
                <c:pt idx="9">
                  <c:v>1665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7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Liquidity Buffer (months)  vs  Mean HFFI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HFFI</c:v>
                </c:pt>
              </c:strCache>
            </c:strRef>
          </c:tx>
          <c:spPr>
            <a:solidFill>
              <a:srgbClr val="B45309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B45309"/>
              </a:solidFill>
              <a:ln w="9525" cap="flat">
                <a:solidFill>
                  <a:srgbClr val="B45309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0.1</c:v>
                </c:pt>
                <c:pt idx="1">
                  <c:v>0.3</c:v>
                </c:pt>
                <c:pt idx="2">
                  <c:v>0.5</c:v>
                </c:pt>
                <c:pt idx="3">
                  <c:v>0.8</c:v>
                </c:pt>
                <c:pt idx="4">
                  <c:v>1.2</c:v>
                </c:pt>
                <c:pt idx="5">
                  <c:v>1.8</c:v>
                </c:pt>
                <c:pt idx="6">
                  <c:v>2.5</c:v>
                </c:pt>
                <c:pt idx="7">
                  <c:v>3.5</c:v>
                </c:pt>
                <c:pt idx="8">
                  <c:v>4.8</c:v>
                </c:pt>
                <c:pt idx="9">
                  <c:v>6</c:v>
                </c:pt>
                <c:pt idx="10">
                  <c:v>7.5</c:v>
                </c:pt>
                <c:pt idx="11">
                  <c:v>9</c:v>
                </c:pt>
                <c:pt idx="12">
                  <c:v>11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78</c:v>
                </c:pt>
                <c:pt idx="1">
                  <c:v>70</c:v>
                </c:pt>
                <c:pt idx="2">
                  <c:v>62</c:v>
                </c:pt>
                <c:pt idx="3">
                  <c:v>54</c:v>
                </c:pt>
                <c:pt idx="4">
                  <c:v>48</c:v>
                </c:pt>
                <c:pt idx="5">
                  <c:v>42</c:v>
                </c:pt>
                <c:pt idx="6">
                  <c:v>37</c:v>
                </c:pt>
                <c:pt idx="7">
                  <c:v>32</c:v>
                </c:pt>
                <c:pt idx="8">
                  <c:v>27</c:v>
                </c:pt>
                <c:pt idx="9">
                  <c:v>23</c:v>
                </c:pt>
                <c:pt idx="10">
                  <c:v>20</c:v>
                </c:pt>
                <c:pt idx="11">
                  <c:v>18</c:v>
                </c:pt>
                <c:pt idx="12">
                  <c:v>16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334155"/>
                    </a:solidFill>
                    <a:latin typeface="Arial"/>
                  </a:rPr>
                  <a:t>Liquidity Buffer (months)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334155"/>
                    </a:solidFill>
                    <a:latin typeface="Arial"/>
                  </a:rPr>
                  <a:t>Mean HFFI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Risk Band  by  Income Quintile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Stable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18</c:v>
                </c:pt>
                <c:pt idx="2">
                  <c:v>32</c:v>
                </c:pt>
                <c:pt idx="3">
                  <c:v>48</c:v>
                </c:pt>
                <c:pt idx="4">
                  <c:v>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</c:v>
                </c:pt>
                <c:pt idx="1">
                  <c:v>52</c:v>
                </c:pt>
                <c:pt idx="2">
                  <c:v>53</c:v>
                </c:pt>
                <c:pt idx="3">
                  <c:v>44</c:v>
                </c:pt>
                <c:pt idx="4">
                  <c:v>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38</c:v>
                </c:pt>
                <c:pt idx="1">
                  <c:v>25</c:v>
                </c:pt>
                <c:pt idx="2">
                  <c:v>13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Severe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Mean HFFI by Survey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HFFI</c:v>
                </c:pt>
              </c:strCache>
            </c:strRef>
          </c:tx>
          <c:spPr>
            <a:solidFill>
              <a:srgbClr val="0F766E"/>
            </a:solidFill>
            <a:ln w="381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2004</c:v>
                  </c:pt>
                  <c:pt idx="1">
                    <c:v>2007</c:v>
                  </c:pt>
                  <c:pt idx="2">
                    <c:v>2010</c:v>
                  </c:pt>
                  <c:pt idx="3">
                    <c:v>2013</c:v>
                  </c:pt>
                  <c:pt idx="4">
                    <c:v>2016</c:v>
                  </c:pt>
                  <c:pt idx="5">
                    <c:v>2019</c:v>
                  </c:pt>
                  <c:pt idx="6">
                    <c:v>2022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42.8</c:v>
                </c:pt>
                <c:pt idx="1">
                  <c:v>44.6</c:v>
                </c:pt>
                <c:pt idx="2">
                  <c:v>46.2</c:v>
                </c:pt>
                <c:pt idx="3">
                  <c:v>45.1</c:v>
                </c:pt>
                <c:pt idx="4">
                  <c:v>43.8</c:v>
                </c:pt>
                <c:pt idx="5">
                  <c:v>42.9</c:v>
                </c:pt>
                <c:pt idx="6">
                  <c:v>43.4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4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HFFI Score by Scenario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HFFI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Baseline</c:v>
                  </c:pt>
                  <c:pt idx="1">
                    <c:v>Mild Recession</c:v>
                  </c:pt>
                  <c:pt idx="2">
                    <c:v>Severe Recession</c:v>
                  </c:pt>
                  <c:pt idx="3">
                    <c:v>Stagflation</c:v>
                  </c:pt>
                  <c:pt idx="4">
                    <c:v>Job Loss</c:v>
                  </c:pt>
                  <c:pt idx="5">
                    <c:v>Market Crash</c:v>
                  </c:pt>
                  <c:pt idx="6">
                    <c:v>Rate Shock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</c:v>
                </c:pt>
                <c:pt idx="1">
                  <c:v>36</c:v>
                </c:pt>
                <c:pt idx="2">
                  <c:v>48</c:v>
                </c:pt>
                <c:pt idx="3">
                  <c:v>52</c:v>
                </c:pt>
                <c:pt idx="4">
                  <c:v>60</c:v>
                </c:pt>
                <c:pt idx="5">
                  <c:v>41</c:v>
                </c:pt>
                <c:pt idx="6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AE6FD"/>
                </a:solidFill>
              </a:rPr>
              <a:t>MASTER OF SCIENCE IN DATA SCIENCE  •  PACE UNIVERSITY, NEW YORK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 Financial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Fragility Index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HFFI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</a:rPr>
              <a:t>A Quantitative Framework for Investment Strategy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</a:rPr>
              <a:t>and Household Recommendation 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365760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Chinmay Sanjiv Shetye  •  Ruturaj Mukanand Doik  •  Matt Van Pruagh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5961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AE6FD"/>
                </a:solidFill>
              </a:rPr>
              <a:t>Advisor: Department of Data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only check one thing at a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measures of fragility are unidimensional — the Fed's $400 question captures liquidity, DTI captures debt, credit scores capture history. None give the full picture.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get fragility tools. Households get nothing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BIS, IMF, ECB, and the Federal Reserve built composite fragility indices for banks. The entities most exposed to shocks — households — have no equivalent.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474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Robo-advisors ask feelings, not capacity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404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ask how a user feels about risk. They don't measure whether the household can actually afford the downside if things go wrong.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4348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is inaccessible to ordinary households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8006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stress-test themselves continuously under CCAR / DFAST. Families have no consumer-facing way to simulate shocks to their own finances.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3949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black boxes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7607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produce a number with no transparency about methodology, weights, or validation — unsuitable for academic, regulatory, or rigorous personal use.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33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Households Need a Fragility Index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03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91440" cy="2103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Decision-Making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individuals rely on judgment, market trends, and general risk-tolerance surveys — not structured analytical tools.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40680" cy="2103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91640"/>
            <a:ext cx="91440" cy="2103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Fragility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fragility — inability to withstand income shocks, inflation, rate rises, market crashes — is widely undetected at the household level.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40680" cy="2103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69080"/>
            <a:ext cx="91440" cy="2103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97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Return-Focused Frameworks Fall Short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investment frameworks focus on returns and volatility without evaluating whether a household can sustain financial risk.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440680" cy="2103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069080"/>
            <a:ext cx="91440" cy="2103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297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Fill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48463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framework integrates fragility, macro conditions, portfolio exposure, and ML in one unified decision-support model — until now.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Hypotheses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DD4BF"/>
                </a:solidFill>
              </a:rPr>
              <a:t>CENTRAL HYPOTHESIS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investment recommendations become more reliable when market signals are conditioned on household financial fragility.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777240" cy="777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8346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capacity hypothesis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31363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HFFI scores indicate lower household capacity to absorb investment risk.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57600"/>
            <a:ext cx="777240" cy="777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37490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protection hypothesis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40507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HFFI-based allocation provides better downside protection than market-only investment guidance.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572000"/>
            <a:ext cx="777240" cy="777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72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46634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hypothesis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49651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HFFI, allocation gap, macro conditions, and market signals improves the suitability of BUY / HOLD / SELL recommendations.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86400"/>
            <a:ext cx="777240" cy="7772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486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08760" y="55778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interpretability hypothesis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58795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Feature-engineered variables (liquidity buffer, debt service ratio, employment risk, dependent pressure) improve recommendation interpretability.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33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Integrated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206240"/>
          </a:xfrm>
          <a:prstGeom prst="rect">
            <a:avLst/>
          </a:prstGeom>
          <a:solidFill>
            <a:srgbClr val="13294B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657600" cy="10972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Index Construction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normalized dimensions (L, D, E, P, M) combined with a nonlinear interaction term into a 0–100 composite score.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57600" cy="4206240"/>
          </a:xfrm>
          <a:prstGeom prst="rect">
            <a:avLst/>
          </a:prstGeom>
          <a:solidFill>
            <a:srgbClr val="13294B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691640"/>
            <a:ext cx="3657600" cy="10972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659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Strategy Engine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7947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score maps to one of four portfolio archetypes: Growth, Balanced, Defensive, or Capital Preservation.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57600" cy="4206240"/>
          </a:xfrm>
          <a:prstGeom prst="rect">
            <a:avLst/>
          </a:prstGeom>
          <a:solidFill>
            <a:srgbClr val="13294B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691640"/>
            <a:ext cx="3657600" cy="10972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9659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503920" y="2788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7947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ML-powered asset-level actions: portfolio guidance and fragility-adjusted single-pick advice.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5 / 33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HFFI Investment Terminal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645920" cy="1417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65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8529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(port 5173)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377440" y="19202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household inputs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19202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 &amp; market selection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allocation monitor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337560"/>
            <a:ext cx="1106424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3337560"/>
            <a:ext cx="1645920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5661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" y="4206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44531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(port 8000)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377440" y="3520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secured API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scoring engine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040880" y="35204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engine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stress testing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 generator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937760"/>
            <a:ext cx="1106424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4937760"/>
            <a:ext cx="1645920" cy="1417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1663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5806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0080" y="60533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default / PostgreSQL switch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2377440" y="51206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financial inputs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User-entered equity &amp; bond holdings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fallback macro data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040880" y="51206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fallback market price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Feature-engineered household-market dataset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33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FORMULA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HFFI Score Construction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solidFill>
            <a:srgbClr val="13294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HFFI = 100 × [ 0.25·Lₚ + 0.25·Dₚ + 0.15·Eₚ + 0.20·Pₚ + 0.15·Mₚ + 0.10·(Lₚ·Dₚ) 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103120" cy="2926080"/>
          </a:xfrm>
          <a:prstGeom prst="rect">
            <a:avLst/>
          </a:prstGeom>
          <a:solidFill>
            <a:srgbClr val="13294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651760"/>
            <a:ext cx="594360" cy="5943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buffer / Essentials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2468880"/>
            <a:ext cx="2103120" cy="2926080"/>
          </a:xfrm>
          <a:prstGeom prst="rect">
            <a:avLst/>
          </a:prstGeom>
          <a:solidFill>
            <a:srgbClr val="13294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65176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608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4114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0.6·DSR + 0.4·DTI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468880"/>
            <a:ext cx="2103120" cy="2926080"/>
          </a:xfrm>
          <a:prstGeom prst="rect">
            <a:avLst/>
          </a:prstGeom>
          <a:solidFill>
            <a:srgbClr val="13294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2651760"/>
            <a:ext cx="594360" cy="5943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4114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/ 85% Income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2468880"/>
            <a:ext cx="2103120" cy="2926080"/>
          </a:xfrm>
          <a:prstGeom prst="rect">
            <a:avLst/>
          </a:prstGeom>
          <a:solidFill>
            <a:srgbClr val="13294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2651760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9808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4114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+ Drawdown + Concentration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92640" y="2468880"/>
            <a:ext cx="2103120" cy="2926080"/>
          </a:xfrm>
          <a:prstGeom prst="rect">
            <a:avLst/>
          </a:prstGeom>
          <a:solidFill>
            <a:srgbClr val="13294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69880" y="265176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6988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78408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8408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0.15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84080" y="41148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+ FFR + Unemployment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6235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term:  λ(L·D) = 0.10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amplifies risk when BOTH liquidity is low AND debt is high simultaneously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7 / 33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 •  LIQUIDITY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— Liquidity Stress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463040" cy="14630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554480"/>
            <a:ext cx="92354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4592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= 1 − min(  Liquid Savings  /  (6 × Monthly Essential Expenses),  1  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77440" y="3017520"/>
            <a:ext cx="923544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3017520"/>
            <a:ext cx="91440" cy="13258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10896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38328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household can pay essential bills (rent, food, utilities, minimum debt) from cash and equivalents alone, with zero income coming in. L = 0 means a 6-month buffer; L = 1 means zero liquid runway.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48640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26280"/>
            <a:ext cx="54864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= CFPB / Vanguard / Fidelity emergency-fund consensus.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essential expenses (not total) because discretionary spending stops first in a crisis.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ratio inverts so higher L means more fragile (consistent with all other components).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min(·, 1) caps the score — diminishing returns beyond 6 months of savings.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526280"/>
            <a:ext cx="534924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526280"/>
            <a:ext cx="5349240" cy="411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5262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502920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cash, even small surprises become emergencies. A family losing their job with $50,000 saved has months to recover; a family with $0 saved is in crisis next week. L measures that survival runway.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33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 •  DEBT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— Debt Stress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463040" cy="1463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554480"/>
            <a:ext cx="92354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4592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= 0.6 × DSR + 0.4 × DTI    where DSR ≤ 1, DTI ≤ 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377440" y="3017520"/>
            <a:ext cx="923544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3017520"/>
            <a:ext cx="9144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10896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38328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facets of debt burden combined: the monthly drag (DSR = monthly debt payment / income, capped at 43% threshold) and the stock of debt (DTI = total debt / annual income, capped at 5×).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48640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26280"/>
            <a:ext cx="54864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DSR is the CFPB Qualified Mortgage rule cliff — defaults rise sharply above it.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annual income matches Bank of England and FHA underwriting upper bounds.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60/40 weighting prioritizes immediate cash-flow stress (DSR) over balance-sheet stress (DTI).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terms are min(·, 1) capped so extreme cases don't overwhelm the index.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526280"/>
            <a:ext cx="534924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526280"/>
            <a:ext cx="5349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5262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502920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is a permanent monthly weight on your shoulders. You can't run from it. Two families with the same income but different debt loads have wildly different flexibility — D captures that drag.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33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 •  EXPENSES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— Expense Stress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463040" cy="14630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554480"/>
            <a:ext cx="92354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4592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= min( Monthly Total Spend / (0.85 × Income),  1 )  ×  Discretionary Factor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3017520"/>
            <a:ext cx="923544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3017520"/>
            <a:ext cx="91440" cy="13258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10896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38328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breathing room a household has between income and spending — and how much of that spending is flexible (could be cut in an emergency) versus fixed.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48640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26280"/>
            <a:ext cx="54864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income threshold = Vanguard's recommended 15% savings rate baseline.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factor (0.7–1.0) rewards households whose spending is flexible.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economics: real cost reduction averages 20–40% in income shocks.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lifestyle inflexibility — not just spending amount but also commitment type.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526280"/>
            <a:ext cx="534924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526280"/>
            <a:ext cx="5349240" cy="411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5262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502920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spend everything you earn, you have nothing left to save, recover, or absorb surprises. E measures how much of your income is locked up — and how much is free to fight emergencies.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33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 •  PORTFOLIO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— Portfolio Stress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463040" cy="1463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554480"/>
            <a:ext cx="92354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4592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0.4 × Volatility  +  0.4 × Expected Drawdown  +  0.2 × Concentration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77440" y="3017520"/>
            <a:ext cx="923544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3017520"/>
            <a:ext cx="91440" cy="1325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10896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38328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exposed the household's investments are to the kinds of shocks that would compound their other fragility — combining expected turbulence, tail risk, and allocation misalignment.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48640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26280"/>
            <a:ext cx="54864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volatility anchor = roughly the long-run vol of 100% equity portfolio.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drawdown anchor = magnitude of the 2008 financial crisis for balanced portfolios.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term penalizes mismatch between actual allocation and HFFI-appropriate target.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sub-components individually capped at 1 to prevent any one dominating.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526280"/>
            <a:ext cx="534924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526280"/>
            <a:ext cx="534924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5262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502920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investments can wipe out at the worst possible time. A market crash that hits exactly when you need your savings doubles the damage. P measures this hidden risk that doesn't surface until something bad happens.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33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5  •  MACRO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— Macro Stress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463040" cy="1463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554480"/>
            <a:ext cx="923544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4592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9659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= 0.25·CPI + 0.25·FFR + 0.20·UNEMP + 0.15·VIX + 0.15·YieldCurve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7440" y="3017520"/>
            <a:ext cx="923544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3017520"/>
            <a:ext cx="91440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310896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38328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external economic environment. Even a financially healthy household becomes more fragile during a recession or rate-shock cycle. The only component identical across all households at a given moment.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48640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26280"/>
            <a:ext cx="54864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and FFR get equal top billing — they affect both expenses and debt cost.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is most consequential single risk but is a lagging indicator (smaller weight).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+ yield curve are forward-looking but noisier signals.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terms z-scored against 10-year rolling window — historical calibration, not 2020s-specific.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526280"/>
            <a:ext cx="5349240" cy="2011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526280"/>
            <a:ext cx="5349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52628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502920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 around you affects how stretched your money already is. The same family is more fragile during a recession than during a boom, even if their personal numbers haven't changed. M captures that hostility.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33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Expanded Household Inputs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system extends the original model with additional household risk indicators.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023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INPUTS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expenses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savings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debt payment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volatility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drawdown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sensitivity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4023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83080"/>
            <a:ext cx="52578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830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INPUTS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type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715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self-employed, part-time, unemployed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3200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dependents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493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expense rigidity and obligation load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4069080"/>
            <a:ext cx="48463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MATTER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443484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 increase expense rigidity.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self-employed / part-time / unemployed households have higher income-risk exposure.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risk modifies macro sensitivity under unemployment pressure.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are server-side validated by Pydantic schemas before reaching the scoring engine.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33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Allocation Calculation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allocation is calculated from user holdings — removes manual estimation, links recommendations to invested exposure.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858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43891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Equity Value  =  Σ (Equity Units × Equity Buy Price)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6858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13432"/>
            <a:ext cx="73152" cy="43891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13432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Bond Value  =  Σ (Bond Units × Bond Buy Price)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6858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43784"/>
            <a:ext cx="73152" cy="43891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43784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Value  =  Liquid Savings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6858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74136"/>
            <a:ext cx="7315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74136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Portfolio Value  =  Equity Value + Bond Value + Cash Value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04488"/>
            <a:ext cx="6858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04488"/>
            <a:ext cx="73152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044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Equity %  =  (Equity Value  /  Total Portfolio Value)  ×  100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6858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34840"/>
            <a:ext cx="73152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3484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Bond %  =  (Bond Value  /  Total Portfolio Value)  ×  100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965192"/>
            <a:ext cx="68580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65192"/>
            <a:ext cx="73152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65192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%  =  (Cash Value  /  Total Portfolio Value)  ×  100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35240" y="1783080"/>
            <a:ext cx="3977640" cy="4160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0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726680" y="2240280"/>
          <a:ext cx="3794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7818120" y="5084064"/>
            <a:ext cx="18288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9244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51560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818120" y="5376672"/>
            <a:ext cx="1828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92440" y="5321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515600" y="5321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818120" y="5669280"/>
            <a:ext cx="18288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9244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515600" y="56144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gap = |Actual % − HFFI Target %| — drives BUY / HOLD / SELL guidance per asset class.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33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HFFI → Investment Strategy Mapping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BAND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4884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ALLOCATION  (Equity / Bond / Cash)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5528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NOTE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64240" cy="96012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11680"/>
            <a:ext cx="13716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– 30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2286000"/>
            <a:ext cx="11887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2860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377440"/>
            <a:ext cx="2816352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2377440"/>
            <a:ext cx="8046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78624" y="2377440"/>
            <a:ext cx="40233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6700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70%   B 20%   C 10%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55280" y="21214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equity exposure. Household has strong liquidity and low debt. Can absorb market risk.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090672"/>
            <a:ext cx="11064240" cy="96012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90672"/>
            <a:ext cx="13716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90672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– 60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48840" y="3364992"/>
            <a:ext cx="1188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33649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3456432"/>
            <a:ext cx="201168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3456432"/>
            <a:ext cx="14081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77456" y="3456432"/>
            <a:ext cx="603504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7490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50%   B 35%   C 15%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55280" y="3200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allocation. Moderate fragility requires balance between growth and capital protection.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169664"/>
            <a:ext cx="11064240" cy="96012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169664"/>
            <a:ext cx="137160" cy="9601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169664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 – 80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148840" y="4443984"/>
            <a:ext cx="118872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48840" y="44439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4535424"/>
            <a:ext cx="1207008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4608" y="4535424"/>
            <a:ext cx="181051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4535424"/>
            <a:ext cx="100584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48280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30%   B 45%   C 25%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55280" y="42793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stability. High fragility demands increased liquid savings and bond exposure.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248656"/>
            <a:ext cx="11064240" cy="96012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248656"/>
            <a:ext cx="13716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248656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 – 100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148840" y="5522976"/>
            <a:ext cx="11887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48840" y="55229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0" y="5614416"/>
            <a:ext cx="402336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59936" y="5614416"/>
            <a:ext cx="14081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68112" y="5614416"/>
            <a:ext cx="221284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59070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10%   B 35%   C 55%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955280" y="535838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capital. Severe fragility — maximize liquidity and minimize market risk at all costs.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 / 33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Score to Actionable Advice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1828800"/>
          </a:xfrm>
          <a:prstGeom prst="rect">
            <a:avLst/>
          </a:prstGeom>
          <a:solidFill>
            <a:srgbClr val="13294B"/>
          </a:solidFill>
          <a:ln w="762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RECOMMENDATION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S_DS  =  0.30·S_RF  +  0.25·S_GB  +  0.20·S_LR  +  0.20·S_M  +  0.05·S_LD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S_RF, S_GB </a:t>
            </a:r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ML suitability </a:t>
            </a:r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S_LR </a:t>
            </a:r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logistic baseline </a:t>
            </a:r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S_M </a:t>
            </a:r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momentum score </a:t>
            </a:r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S_LD </a:t>
            </a:r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allocation gap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ranges → BUY / HOLD / SELL / AVOID action labels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43800" y="1554480"/>
            <a:ext cx="4069080" cy="1828800"/>
          </a:xfrm>
          <a:prstGeom prst="rect">
            <a:avLst/>
          </a:prstGeom>
          <a:solidFill>
            <a:srgbClr val="13294B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6459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RULES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26680" y="1965960"/>
            <a:ext cx="9144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S_DS  &gt;  0.65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26680" y="2295144"/>
            <a:ext cx="9144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295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0" y="22951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  &lt;  S_DS  ≤  0.65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26680" y="2624328"/>
            <a:ext cx="914400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2624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2624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  &lt;  S_DS  ≤  0.45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2953512"/>
            <a:ext cx="9144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953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2953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S_DS  ≤  0.30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57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RECOMMENDATION LAYER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697480" cy="1737360"/>
          </a:xfrm>
          <a:prstGeom prst="rect">
            <a:avLst/>
          </a:prstGeom>
          <a:solidFill>
            <a:srgbClr val="13294B"/>
          </a:solidFill>
          <a:ln w="6350">
            <a:solidFill>
              <a:srgbClr val="1B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977640"/>
            <a:ext cx="269748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Features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3434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score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buffer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service ratio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37560" y="3977640"/>
            <a:ext cx="2697480" cy="1737360"/>
          </a:xfrm>
          <a:prstGeom prst="rect">
            <a:avLst/>
          </a:prstGeom>
          <a:solidFill>
            <a:srgbClr val="13294B"/>
          </a:solidFill>
          <a:ln w="6350">
            <a:solidFill>
              <a:srgbClr val="1B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3977640"/>
            <a:ext cx="269748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Features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43434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rate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curve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3977640"/>
            <a:ext cx="2697480" cy="1737360"/>
          </a:xfrm>
          <a:prstGeom prst="rect">
            <a:avLst/>
          </a:prstGeom>
          <a:solidFill>
            <a:srgbClr val="13294B"/>
          </a:solidFill>
          <a:ln w="6350">
            <a:solidFill>
              <a:srgbClr val="1B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3977640"/>
            <a:ext cx="269748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Features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43434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%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%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%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915400" y="3977640"/>
            <a:ext cx="2697480" cy="1737360"/>
          </a:xfrm>
          <a:prstGeom prst="rect">
            <a:avLst/>
          </a:prstGeom>
          <a:solidFill>
            <a:srgbClr val="13294B"/>
          </a:solidFill>
          <a:ln w="6350">
            <a:solidFill>
              <a:srgbClr val="1B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15400" y="3977640"/>
            <a:ext cx="269748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Features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52560" y="43434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 + Gradient Boosting ensemble  →  β₁·LR + β₂·RF + β₃·GB + 0.25·S_M + 0.05·S_LD  →  BUY / HOLD / AVOID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16 / 33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PLANNING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Planning Recommendation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ranks additional investment candidates across asset universes — each ranked recommendation is fully self-contained.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78308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23160" y="1783080"/>
            <a:ext cx="178308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8745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2316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97680" y="1783080"/>
            <a:ext cx="178308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8745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9768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72200" y="1783080"/>
            <a:ext cx="178308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8745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7220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046720" y="1783080"/>
            <a:ext cx="178308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18745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4672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9921240" y="1783080"/>
            <a:ext cx="178308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4472" y="187452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92124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RECOMMENDATION INCLUDES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548640" y="3383280"/>
            <a:ext cx="269748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548640" y="3383280"/>
            <a:ext cx="73152" cy="731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77240" y="33832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amount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3360420" y="3383280"/>
            <a:ext cx="269748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3360420" y="3383280"/>
            <a:ext cx="73152" cy="731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589020" y="33832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172200" y="3383280"/>
            <a:ext cx="269748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172200" y="3383280"/>
            <a:ext cx="73152" cy="731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400800" y="33832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entry price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8983980" y="3383280"/>
            <a:ext cx="269748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983980" y="3383280"/>
            <a:ext cx="73152" cy="731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9212580" y="33832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target price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4251960"/>
            <a:ext cx="269748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48640" y="4251960"/>
            <a:ext cx="73152" cy="731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77240" y="4251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trigger price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3360420" y="4251960"/>
            <a:ext cx="269748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3360420" y="4251960"/>
            <a:ext cx="73152" cy="731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3589020" y="4251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holding period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6172200" y="4251960"/>
            <a:ext cx="269748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172200" y="4251960"/>
            <a:ext cx="73152" cy="731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400800" y="4251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8983980" y="4251960"/>
            <a:ext cx="269748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8983980" y="4251960"/>
            <a:ext cx="73152" cy="731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9212580" y="4251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explanation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548640" y="5212080"/>
            <a:ext cx="11064240" cy="1325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31520" y="5303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STRATEGY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 =  RF / GB suitability  +  HFFI guardrail  +  Market momentum  +  Downside safety  +  Allocation gap  +  Buying capacity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731520" y="605332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machine-learning suitability with fragility guardrails and current market signals — never recommends beyond what the household can afford.</a:t>
            </a:r>
            <a:endParaRPr lang="en-US" sz="1100" dirty="0"/>
          </a:p>
        </p:txBody>
      </p:sp>
      <p:sp>
        <p:nvSpPr>
          <p:cNvPr id="52" name="Text 44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 / 33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HFFI Across 190,265 Households  •  Federal Reserve SCF 2004–2022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91640"/>
            <a:ext cx="38862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26680" y="1691640"/>
            <a:ext cx="109728" cy="10972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43.58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9552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HFFI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2926080"/>
            <a:ext cx="38862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26680" y="2926080"/>
            <a:ext cx="109728" cy="10972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32.5%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9552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Households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26680" y="4160520"/>
            <a:ext cx="38862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26680" y="4160520"/>
            <a:ext cx="109728" cy="10972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4297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955280" y="4800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Fragility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26680" y="5394960"/>
            <a:ext cx="38862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26680" y="5394960"/>
            <a:ext cx="109728" cy="10972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5532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0.965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95528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Reproducibility (Across Runs)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waves: 2004 • 2007 • 2010 • 2013 • 2016 • 2019 • 2022 • SCF cross-section, weighted to U.S. population.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 / 33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What the SCF Data Shows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visual findings from the 190,265-household dataset that motivate the HFFI design.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3840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029200"/>
            <a:ext cx="91440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074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1520" y="532180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gaussian-like with a right tail. Most households cluster at 30-60 (Moderate Fragility). The right tail is the at-risk population.</a:t>
            </a:r>
            <a:endParaRPr lang="en-US" sz="10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526280" y="173736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4526280" y="5029200"/>
            <a:ext cx="3840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5029200"/>
            <a:ext cx="91440" cy="1417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09160" y="5074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709160" y="532180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inverse relationship between liquidity buffer and HFFI. Households with under 1 month of buffer score 70+; those with 6+ months score under 25.</a:t>
            </a:r>
            <a:endParaRPr lang="en-US" sz="1000" dirty="0"/>
          </a:p>
        </p:txBody>
      </p:sp>
      <p:graphicFrame>
        <p:nvGraphicFramePr>
          <p:cNvPr id="15" name="Chart 2" descr=""/>
          <p:cNvGraphicFramePr/>
          <p:nvPr/>
        </p:nvGraphicFramePr>
        <p:xfrm>
          <a:off x="8503920" y="1737360"/>
          <a:ext cx="3108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Shape 11"/>
          <p:cNvSpPr/>
          <p:nvPr/>
        </p:nvSpPr>
        <p:spPr>
          <a:xfrm>
            <a:off x="8503920" y="5029200"/>
            <a:ext cx="310896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503920" y="5029200"/>
            <a:ext cx="91440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686800" y="5074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686800" y="5321808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is NOT only an income problem. Even Q5 (top income) has 33% in Moderate or worse. Income alone is insufficient to detect fragility.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 / 33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evidence supporting HFFI as a household segmentation and recommendation framework.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93592" cy="2194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59359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Distribution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spread across fragility levels — gaussian-like with right tail.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593592" cy="2194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1104" y="1783080"/>
            <a:ext cx="359359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8264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43984" y="2240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Counts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43984" y="29260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HFFI as a household segmentation tool.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73568" y="1783080"/>
            <a:ext cx="3593592" cy="2194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1783080"/>
            <a:ext cx="359359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0728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56448" y="2240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56448" y="29260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relationships among liquidity, debt, macro stress, portfolio risk.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593592" cy="2194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14800"/>
            <a:ext cx="359359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 Plots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257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burden increases HFFI; liquidity buffer reduces HFFI.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61104" y="4114800"/>
            <a:ext cx="3593592" cy="2194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1104" y="4114800"/>
            <a:ext cx="359359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8264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43984" y="4572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Recs by Risk Band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43984" y="5257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households receive defensive allocations; stable get growth.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73568" y="4114800"/>
            <a:ext cx="3593592" cy="21945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73568" y="4114800"/>
            <a:ext cx="359359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0728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56448" y="4572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Next-Month Returns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56448" y="5257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evidence: top recommended markets performed positively.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 / 33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HFFI Trends Across Survey Waves 2004–2022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91640"/>
            <a:ext cx="388620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26680" y="1691640"/>
            <a:ext cx="109728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6968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Pre-GFC Peak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2148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built fragility before the crisis (47.5).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26680" y="2852928"/>
            <a:ext cx="388620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2852928"/>
            <a:ext cx="109728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29443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69680" y="2944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Post-GFC Trough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55280" y="33101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45.3 after high fragility 17.8% (source 5.5%).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26680" y="4014216"/>
            <a:ext cx="388620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26680" y="4014216"/>
            <a:ext cx="109728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0" y="41056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869680" y="410565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Low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0" y="447141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41.2 as the economy expanded.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26680" y="5175504"/>
            <a:ext cx="388620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26680" y="5175504"/>
            <a:ext cx="109728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52669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869680" y="526694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55280" y="563270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Fragility back to 5.7% — drawn from 1.4% pandemic peak.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21 / 33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Analysis — Median Household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91640"/>
            <a:ext cx="388620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26680" y="1691640"/>
            <a:ext cx="10972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Loss  +22.8 pts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0" y="2148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drops at others' levels. Only severe to fund upgrade.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26680" y="2852928"/>
            <a:ext cx="388620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26680" y="2852928"/>
            <a:ext cx="10972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2944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Stagflation  +13.7 pts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0" y="33101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inflation + rate + unemployment shock has biggest impact.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26680" y="4014216"/>
            <a:ext cx="388620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26680" y="4014216"/>
            <a:ext cx="10972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41056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Crash  +3.7 pts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447141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multi-factor shock — income, equity, market — all moderate.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26680" y="5175504"/>
            <a:ext cx="388620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26680" y="5175504"/>
            <a:ext cx="10972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52669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Shock  +1.6 pts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55280" y="563270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rise has limited impact on median household with low leverage.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22 / 33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ONE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 Carlo and Counterfactual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846320"/>
          </a:xfrm>
          <a:prstGeom prst="rect">
            <a:avLst/>
          </a:prstGeom>
          <a:solidFill>
            <a:srgbClr val="13294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SCENARIOS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Recession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50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−5%, unemployment +1.5pp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7797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Recession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0266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−15%, unemployment +4pp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456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Stagflation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+3pp, rates +2pp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133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Loss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799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unemployed, partial benefits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48097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Shock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0566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+200 bps overnight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Crash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733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−30%, drawdown sustained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349240" cy="4846320"/>
          </a:xfrm>
          <a:prstGeom prst="rect">
            <a:avLst/>
          </a:prstGeom>
          <a:solidFill>
            <a:srgbClr val="13294B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554480"/>
            <a:ext cx="534924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5544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21031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random combinations of income, inflation, rate, unemployment, and drawdown shocks are simulated (n = 2,000).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2880360"/>
            <a:ext cx="2377440" cy="685800"/>
          </a:xfrm>
          <a:prstGeom prst="rect">
            <a:avLst/>
          </a:prstGeom>
          <a:solidFill>
            <a:srgbClr val="0B1F3A"/>
          </a:solidFill>
          <a:ln w="381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HFFI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61120" y="2880360"/>
            <a:ext cx="2377440" cy="685800"/>
          </a:xfrm>
          <a:prstGeom prst="rect">
            <a:avLst/>
          </a:prstGeom>
          <a:solidFill>
            <a:srgbClr val="0B1F3A"/>
          </a:solidFill>
          <a:ln w="381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5256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46520" y="3657600"/>
            <a:ext cx="2377440" cy="685800"/>
          </a:xfrm>
          <a:prstGeom prst="rect">
            <a:avLst/>
          </a:prstGeom>
          <a:solidFill>
            <a:srgbClr val="0B1F3A"/>
          </a:solidFill>
          <a:ln w="381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796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(best 5%)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61120" y="3657600"/>
            <a:ext cx="2377440" cy="685800"/>
          </a:xfrm>
          <a:prstGeom prst="rect">
            <a:avLst/>
          </a:prstGeom>
          <a:solidFill>
            <a:srgbClr val="0B1F3A"/>
          </a:solidFill>
          <a:ln w="381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5256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(median)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46520" y="4434840"/>
            <a:ext cx="2377440" cy="685800"/>
          </a:xfrm>
          <a:prstGeom prst="rect">
            <a:avLst/>
          </a:prstGeom>
          <a:solidFill>
            <a:srgbClr val="0B1F3A"/>
          </a:solidFill>
          <a:ln w="381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480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796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(worst 5%)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961120" y="4434840"/>
            <a:ext cx="2377440" cy="685800"/>
          </a:xfrm>
          <a:prstGeom prst="rect">
            <a:avLst/>
          </a:prstGeom>
          <a:solidFill>
            <a:srgbClr val="0B1F3A"/>
          </a:solidFill>
          <a:ln w="381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4480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12.4%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5256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P(Severe Fragility)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46520" y="59893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Counterfactual: add liquidity buffer  •  pay down debt  •  lower essentials  •  shift equity → bonds.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23 / 33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8-Test Validation Suite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2020824"/>
            <a:ext cx="77724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202082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9144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Score Reproducibility N = 5,000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HFFI ranks p (0.965)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4068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0" y="2020824"/>
            <a:ext cx="77724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0" y="2020824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9144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288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— End-to-End Pipeline N = 500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2402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at all 8 phases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98648"/>
            <a:ext cx="544068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3227832"/>
            <a:ext cx="77724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22783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898648"/>
            <a:ext cx="9144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0358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Backtest &amp; Edge Cases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4472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on income 0, debt 0 cases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898648"/>
            <a:ext cx="544068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89920" y="3227832"/>
            <a:ext cx="77724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0" y="3227832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898648"/>
            <a:ext cx="9144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0358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— Range &amp; Monotonicity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34472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scores in [0, 100], increasing-with-stress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05656"/>
            <a:ext cx="544068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4434840"/>
            <a:ext cx="77724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43484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105656"/>
            <a:ext cx="9144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24281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— Stress Test Coverage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465429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scenarios + Monte Carlo on 4,500 households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105656"/>
            <a:ext cx="544068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89920" y="4434840"/>
            <a:ext cx="77724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0" y="443484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4105656"/>
            <a:ext cx="9144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24281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— Portfolio Edge Cases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46520" y="465429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on 100% Equity / 100% Cash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312664"/>
            <a:ext cx="544068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5641848"/>
            <a:ext cx="77724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564184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312664"/>
            <a:ext cx="9144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44982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— Year-by-Year Stability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7240" y="586130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(49.6%) band stable across 4 SCF runs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5312664"/>
            <a:ext cx="5440680" cy="10789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89920" y="5641848"/>
            <a:ext cx="77724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789920" y="5641848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5312664"/>
            <a:ext cx="91440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544982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 — OOS AUC Calibration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46520" y="586130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0.751 ± 0.04 outperforms baselines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24 / 33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Backtesting and Signal Verification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COMPARES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109728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Recommendation Strategy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645920"/>
            <a:ext cx="361188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0248" y="1645920"/>
            <a:ext cx="10972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6459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Buy-and-Hold Portfolio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1856" y="1645920"/>
            <a:ext cx="361188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91856" y="1645920"/>
            <a:ext cx="109728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6459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Benchmark (SPY)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2423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REPORTED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1499616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8892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39696" y="2788920"/>
            <a:ext cx="1499616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9696" y="278892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30752" y="2788920"/>
            <a:ext cx="1499616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278892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21808" y="2788920"/>
            <a:ext cx="1499616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278892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12864" y="2788920"/>
            <a:ext cx="1499616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2864" y="278892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03920" y="2788920"/>
            <a:ext cx="1499616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278892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94976" y="2788920"/>
            <a:ext cx="1499616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94976" y="278892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trades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11064240" cy="2834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03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VERIFICATION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backtest BUY / SELL / HOLD signal is compared against the live recommendation engine output.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4572000"/>
            <a:ext cx="5349240" cy="1783080"/>
          </a:xfrm>
          <a:prstGeom prst="rect">
            <a:avLst/>
          </a:prstGeom>
          <a:solidFill>
            <a:srgbClr val="13294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572000"/>
            <a:ext cx="1280160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572000"/>
            <a:ext cx="1280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194560" y="4572000"/>
            <a:ext cx="37947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recommendation agrees with the latest backtest signal — high confidence.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4572000"/>
            <a:ext cx="5349240" cy="1783080"/>
          </a:xfrm>
          <a:prstGeom prst="rect">
            <a:avLst/>
          </a:prstGeom>
          <a:solidFill>
            <a:srgbClr val="13294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4572000"/>
            <a:ext cx="1280160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4572000"/>
            <a:ext cx="1280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726680" y="4572000"/>
            <a:ext cx="37947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conditions or HFFI inputs changed enough to require reassessment.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25 / 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Dashboard Outputs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HFFI terminal converts the model into a complete interactive decision-support 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391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Score &amp; Band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with fragility classification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0420" y="178308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3300" y="196596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203911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83380" y="1965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Heatmap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43300" y="2560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L, D, E, P, M visualized side-by-side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178308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196596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0391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1965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Macro Indicators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355080" y="2560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Inflation, FFR, unemployment, yields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983980" y="178308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66860" y="196596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012" y="203911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06940" y="1965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Equity/Bond/Cash Donut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9166860" y="2560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portfolio breakdown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33756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59359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3520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Target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731520" y="41148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gap by asset class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60420" y="333756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43300" y="35204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6452" y="359359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183380" y="3520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BUY/HOLD/SELL Guide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3543300" y="41148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Per-holding action labels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172200" y="333756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355080" y="35204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3593592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995160" y="3520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Candidates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6355080" y="41148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recommendations w/ reasoning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983980" y="333756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166860" y="35204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0012" y="3593592"/>
            <a:ext cx="365760" cy="3657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806940" y="3520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Distribution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9166860" y="41148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P5–P95 stress distribution chart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548640" y="489204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5148072"/>
            <a:ext cx="365760" cy="36576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371600" y="50749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Equity Curve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731520" y="5669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vs benchmark over time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3360420" y="489204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3543300" y="507492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6452" y="5148072"/>
            <a:ext cx="365760" cy="36576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4183380" y="50749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Drawdown</a:t>
            </a:r>
            <a:endParaRPr lang="en-US" sz="1150" dirty="0"/>
          </a:p>
        </p:txBody>
      </p:sp>
      <p:sp>
        <p:nvSpPr>
          <p:cNvPr id="54" name="Text 42"/>
          <p:cNvSpPr/>
          <p:nvPr/>
        </p:nvSpPr>
        <p:spPr>
          <a:xfrm>
            <a:off x="3543300" y="5669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Worst-period analysis chart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6172200" y="489204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6355080" y="507492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8232" y="5148072"/>
            <a:ext cx="365760" cy="36576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6995160" y="50749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Verification</a:t>
            </a:r>
            <a:endParaRPr lang="en-US" sz="1150" dirty="0"/>
          </a:p>
        </p:txBody>
      </p:sp>
      <p:sp>
        <p:nvSpPr>
          <p:cNvPr id="59" name="Text 46"/>
          <p:cNvSpPr/>
          <p:nvPr/>
        </p:nvSpPr>
        <p:spPr>
          <a:xfrm>
            <a:off x="6355080" y="5669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REVIEW status indicator</a:t>
            </a:r>
            <a:endParaRPr lang="en-US" sz="1000" dirty="0"/>
          </a:p>
        </p:txBody>
      </p:sp>
      <p:sp>
        <p:nvSpPr>
          <p:cNvPr id="60" name="Shape 47"/>
          <p:cNvSpPr/>
          <p:nvPr/>
        </p:nvSpPr>
        <p:spPr>
          <a:xfrm>
            <a:off x="8983980" y="4892040"/>
            <a:ext cx="269748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Shape 48"/>
          <p:cNvSpPr/>
          <p:nvPr/>
        </p:nvSpPr>
        <p:spPr>
          <a:xfrm>
            <a:off x="9166860" y="507492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0012" y="5148072"/>
            <a:ext cx="365760" cy="365760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9806940" y="50749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 Export</a:t>
            </a:r>
            <a:endParaRPr lang="en-US" sz="1150" dirty="0"/>
          </a:p>
        </p:txBody>
      </p:sp>
      <p:sp>
        <p:nvSpPr>
          <p:cNvPr id="64" name="Text 50"/>
          <p:cNvSpPr/>
          <p:nvPr/>
        </p:nvSpPr>
        <p:spPr>
          <a:xfrm>
            <a:off x="9166860" y="5669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7-sheet PDF/XLSX with full results</a:t>
            </a:r>
            <a:endParaRPr lang="en-US" sz="1000" dirty="0"/>
          </a:p>
        </p:txBody>
      </p:sp>
      <p:sp>
        <p:nvSpPr>
          <p:cNvPr id="65" name="Text 51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26 / 33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Report Generation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generates a multi-sheet Excel report for academic review, defense, and offline user interpretation.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0408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066544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score, band, top recommendations at a glance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70408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50008"/>
            <a:ext cx="50292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39572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633472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L, D, E, P, M individual contributions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16936"/>
            <a:ext cx="70408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16936"/>
            <a:ext cx="50292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96265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Plan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20040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projections with median + percentile bands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70408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483864"/>
            <a:ext cx="50292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52958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Comparison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767328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Conservative vs Balanced vs Aggressive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50792"/>
            <a:ext cx="70408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50792"/>
            <a:ext cx="50292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09651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Signals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334256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BUY/HOLD/SELL list with target / trigger prices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617720"/>
            <a:ext cx="70408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46634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Scenarios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88720" y="4901184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scenario's effect on HFFI and recommendations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184648"/>
            <a:ext cx="70408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184648"/>
            <a:ext cx="50292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8720" y="52303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88720" y="5468112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investment candidates per asset class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751576"/>
            <a:ext cx="70408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751576"/>
            <a:ext cx="50292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751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88720" y="579729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Snapshot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88720" y="603504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macro indicator values at compute time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18120" y="1783080"/>
            <a:ext cx="3794760" cy="4526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61120" y="2011680"/>
            <a:ext cx="1463040" cy="14630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240280"/>
            <a:ext cx="1005840" cy="100584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7955280" y="36576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092440" y="3977640"/>
            <a:ext cx="33832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model output exportable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project defense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traceable recommendation evidence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offline review of HFFI score, assumptions, stress tests, plan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27 / 33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Governance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system handles household financial inputs, defense-in-depth security controls are implemented.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659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Authentication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bcrypt password hashing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88920" y="178308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659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036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Bearer-Token Sessions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88036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expiry + signature verification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29200" y="178308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9659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12064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admin, audit roles separated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7269480" y="178308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9659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736092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60/min default, 10/min on auth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9509760" y="178308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19659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CORS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9601200" y="2880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origin allow-list only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48640" y="347472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365760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0080" y="4160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40080" y="4572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HSTS, X-Frame-Options, Permissions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2788920" y="347472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3657600"/>
            <a:ext cx="411480" cy="4114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880360" y="4160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2880360" y="4572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 reject invalid input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5029200" y="347472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7880" y="3657600"/>
            <a:ext cx="411480" cy="4114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20640" y="4160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5120640" y="4572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user ID + IP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7269480" y="347472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0" y="3657600"/>
            <a:ext cx="411480" cy="4114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360920" y="4160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Env-Based API Keys</a:t>
            </a:r>
            <a:endParaRPr lang="en-US" sz="1050" dirty="0"/>
          </a:p>
        </p:txBody>
      </p:sp>
      <p:sp>
        <p:nvSpPr>
          <p:cNvPr id="40" name="Text 29"/>
          <p:cNvSpPr/>
          <p:nvPr/>
        </p:nvSpPr>
        <p:spPr>
          <a:xfrm>
            <a:off x="7360920" y="4572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in code or git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9509760" y="3474720"/>
            <a:ext cx="2148840" cy="1554480"/>
          </a:xfrm>
          <a:prstGeom prst="rect">
            <a:avLst/>
          </a:prstGeom>
          <a:solidFill>
            <a:srgbClr val="13294B"/>
          </a:solidFill>
          <a:ln w="6350">
            <a:solidFill>
              <a:srgbClr val="0F766E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8440" y="3657600"/>
            <a:ext cx="411480" cy="4114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601200" y="4160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 Execution</a:t>
            </a:r>
            <a:endParaRPr lang="en-US" sz="1050" dirty="0"/>
          </a:p>
        </p:txBody>
      </p:sp>
      <p:sp>
        <p:nvSpPr>
          <p:cNvPr id="44" name="Text 32"/>
          <p:cNvSpPr/>
          <p:nvPr/>
        </p:nvSpPr>
        <p:spPr>
          <a:xfrm>
            <a:off x="9601200" y="4572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read-only — never places orders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548640" y="5349240"/>
            <a:ext cx="110642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731520" y="54406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CONTROL</a:t>
            </a:r>
            <a:endParaRPr lang="en-US" sz="1000" dirty="0"/>
          </a:p>
        </p:txBody>
      </p:sp>
      <p:sp>
        <p:nvSpPr>
          <p:cNvPr id="47" name="Text 35"/>
          <p:cNvSpPr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educational decision-support only. It does NOT execute trades, hold custody, or provide licensed financial advice.</a:t>
            </a:r>
            <a:endParaRPr lang="en-US" sz="1300" dirty="0"/>
          </a:p>
        </p:txBody>
      </p:sp>
      <p:sp>
        <p:nvSpPr>
          <p:cNvPr id="48" name="Text 36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28 / 33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Reveals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602736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Dominates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buffer + high debt simultaneously is the configuration most strongly predictive of household financial distress, beyond either factor alone.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61104" y="1691640"/>
            <a:ext cx="3602736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1104" y="1691640"/>
            <a:ext cx="3602736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Effect is Real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43984" y="256032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weight on λ(L·D) confirms that combined low-liquidity AND high-debt households face disproportionately worse outcomes.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73568" y="1691640"/>
            <a:ext cx="3602736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3568" y="1691640"/>
            <a:ext cx="3602736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Conditions Matter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56032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post-GFC peak (HFFI 46.2) vs 2016 low (HFFI 41.2) confirms macro conditions drive fragility across the entire population.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602736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3602736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434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Shock is Most Severe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Job-loss scenario adds +22.8 pts to median household — more impact than market shocks.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61104" y="4160520"/>
            <a:ext cx="3602736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1104" y="4160520"/>
            <a:ext cx="3602736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4434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Are Conservative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43984" y="502920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0.751 — not a market timer, but a risk-aware filter. It protects fragile households from unsuitable investments.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73568" y="4160520"/>
            <a:ext cx="3602736" cy="2331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3568" y="4160520"/>
            <a:ext cx="3602736" cy="91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4434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Fragility Dominates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56448" y="502920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52.3% of 190,265 households fall in Moderate Fragility — most households have meaningful risk but are not in crisis — the actionable middle ground.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29 / 33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Honest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937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8580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HFFI weights are theory-driven and should be empirically optimized on larger labeled datasets.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APIs can be rate-limited, requiring fallback data.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layer is a suitability filter, not a pure market-timing model.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or SCF-style household data may not capture all behavioral finance factors.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outputs should not be interpreted as licensed financial advice.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of distress probability requires further empirical validation.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35240" y="1554480"/>
            <a:ext cx="3977640" cy="4937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1554480"/>
            <a:ext cx="397764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STILL ADDS VALUE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2" y="224028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18120" y="31089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improves financial decision-making by combining household resilience, macroeconomic risk, portfolio exposure, and explainable recommendation logic into one transparent framework.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 / 33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Outcomes and Effectiveness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explainable, household-aware investment recommendation system that scores financial fragility, stress-tests it, and recommends investments suited to what each household can actually afford to risk.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61188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361188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OUTCOME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AUC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81304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liquidity-only (0.665) and debt-only (0.679) baselines. All 8 validation tests pass.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70248" y="2514600"/>
            <a:ext cx="361188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2514600"/>
            <a:ext cx="361188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560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COVERAGE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07408" y="29718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190,265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07408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scored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07408" y="381304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7 Federal Reserve SCF waves (2004–2022). 0.965 reproducibility across runs.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91856" y="2514600"/>
            <a:ext cx="361188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91856" y="2514600"/>
            <a:ext cx="3611880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9016" y="25603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29016" y="29718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129016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— full-stack live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29016" y="381304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+ FastAPI backend + Excel export + scope-restricted AI chatbot. End-to-end working.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642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80560"/>
            <a:ext cx="110642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4805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COMPARES TO EXISTING WORK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50292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023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Credit Scores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440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Backward-looking; we are forward-looking and stress-testable.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50292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51023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Fed SHED $400 Question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5440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Unidimensional liquidity-only; we integrate 5 dimensions.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50292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51023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Robo-Advisors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5440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self-reported tolerance; we use measured risk capacity.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823960" y="50292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15400" y="51023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Bank Stress Tests (CCAR)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15400" y="5440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Bank-only; we bring stress testing to households.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we don't just recommend what looks attractive in the market — we first check whether the household can afford the risk.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31 / 33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Directions for Continued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103120"/>
          </a:xfrm>
          <a:prstGeom prst="rect">
            <a:avLst/>
          </a:prstGeom>
          <a:solidFill>
            <a:srgbClr val="13294B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Weight Optimization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theory-driven weights with regression/PCA optimization on enriched labeled distress datasets.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57600" cy="2103120"/>
          </a:xfrm>
          <a:prstGeom prst="rect">
            <a:avLst/>
          </a:prstGeom>
          <a:solidFill>
            <a:srgbClr val="13294B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65176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live text-based explanation layer with transformer models for personalized natural-language financial reports.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57600" cy="2103120"/>
          </a:xfrm>
          <a:prstGeom prst="rect">
            <a:avLst/>
          </a:prstGeom>
          <a:solidFill>
            <a:srgbClr val="13294B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87452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35440" y="1920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265176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cost-effective and stable real-time market indexes via professional brokerage APIs for dynamic event scoring.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57600" cy="2103120"/>
          </a:xfrm>
          <a:prstGeom prst="rect">
            <a:avLst/>
          </a:prstGeom>
          <a:solidFill>
            <a:srgbClr val="13294B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Adaptability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89204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macro calibration, regional employment definitions, local employment legislation, and sovereign rate benchmarks.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657600" cy="2103120"/>
          </a:xfrm>
          <a:prstGeom prst="rect">
            <a:avLst/>
          </a:prstGeom>
          <a:solidFill>
            <a:srgbClr val="13294B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489204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risk-tolerance surveys, spending behavior patterns, and psychological bias correctors into the HFFI input set.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931920"/>
            <a:ext cx="3657600" cy="2103120"/>
          </a:xfrm>
          <a:prstGeom prst="rect">
            <a:avLst/>
          </a:prstGeom>
          <a:solidFill>
            <a:srgbClr val="13294B"/>
          </a:solidFill>
          <a:ln w="7620">
            <a:solidFill>
              <a:srgbClr val="0F76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4114800"/>
            <a:ext cx="640080" cy="64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23544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58200" y="489204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allocation templates with dynamic mean-variance optimization constrained on the household's HFFI risk capacity.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32 / 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365760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337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Financial Fragility Index (HFFI)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Framework for Investment Strategy and Recommendation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Chinmay Sanjiv Shetye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30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cs5023k@pace.edu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Ruturaj Mukanand Doik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5230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rd80505k@pace.edu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Van Pruagh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5230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mv22732n@pace.edu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Household Financial Fragility Index</dc:title>
  <dc:subject>PptxGenJS Presentation</dc:subject>
  <dc:creator>Chinmay Shetye</dc:creator>
  <cp:lastModifiedBy>Chinmay Shetye</cp:lastModifiedBy>
  <cp:revision>1</cp:revision>
  <dcterms:created xsi:type="dcterms:W3CDTF">2026-05-14T06:16:58Z</dcterms:created>
  <dcterms:modified xsi:type="dcterms:W3CDTF">2026-05-14T06:16:58Z</dcterms:modified>
</cp:coreProperties>
</file>